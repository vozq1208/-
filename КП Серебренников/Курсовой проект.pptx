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846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FCD85-BA7D-46B5-8958-FAB44A4492C0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C0FB1-1E08-4064-B051-1C4118847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6000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FCD85-BA7D-46B5-8958-FAB44A4492C0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C0FB1-1E08-4064-B051-1C4118847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0684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FCD85-BA7D-46B5-8958-FAB44A4492C0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C0FB1-1E08-4064-B051-1C4118847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6948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FCD85-BA7D-46B5-8958-FAB44A4492C0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C0FB1-1E08-4064-B051-1C4118847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7392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FCD85-BA7D-46B5-8958-FAB44A4492C0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C0FB1-1E08-4064-B051-1C4118847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9175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FCD85-BA7D-46B5-8958-FAB44A4492C0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C0FB1-1E08-4064-B051-1C4118847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4938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FCD85-BA7D-46B5-8958-FAB44A4492C0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C0FB1-1E08-4064-B051-1C4118847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2248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FCD85-BA7D-46B5-8958-FAB44A4492C0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C0FB1-1E08-4064-B051-1C4118847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2702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FCD85-BA7D-46B5-8958-FAB44A4492C0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C0FB1-1E08-4064-B051-1C4118847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8702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FCD85-BA7D-46B5-8958-FAB44A4492C0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C0FB1-1E08-4064-B051-1C4118847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3466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FCD85-BA7D-46B5-8958-FAB44A4492C0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C0FB1-1E08-4064-B051-1C4118847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869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FCD85-BA7D-46B5-8958-FAB44A4492C0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C0FB1-1E08-4064-B051-1C4118847ECE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87873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FCD85-BA7D-46B5-8958-FAB44A4492C0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C0FB1-1E08-4064-B051-1C4118847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6469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FCD85-BA7D-46B5-8958-FAB44A4492C0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C0FB1-1E08-4064-B051-1C4118847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06307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FCD85-BA7D-46B5-8958-FAB44A4492C0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C0FB1-1E08-4064-B051-1C4118847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94967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FCD85-BA7D-46B5-8958-FAB44A4492C0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C0FB1-1E08-4064-B051-1C4118847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53955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FCD85-BA7D-46B5-8958-FAB44A4492C0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C0FB1-1E08-4064-B051-1C4118847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4737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ABFCD85-BA7D-46B5-8958-FAB44A4492C0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3C0FB1-1E08-4064-B051-1C4118847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4706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21B49E8D-FFF9-5357-F26D-FADAD62FF1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7000" y="1333500"/>
            <a:ext cx="8057997" cy="3289300"/>
          </a:xfr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ru-RU" sz="5400" b="1" dirty="0">
                <a:solidFill>
                  <a:schemeClr val="tx1"/>
                </a:solidFill>
              </a:rPr>
              <a:t>Курсовой проект на тему: Проектирование ИС </a:t>
            </a:r>
            <a:r>
              <a:rPr lang="en-US" sz="5400" b="1" dirty="0">
                <a:solidFill>
                  <a:schemeClr val="tx1"/>
                </a:solidFill>
              </a:rPr>
              <a:t>“</a:t>
            </a:r>
            <a:r>
              <a:rPr lang="ru-RU" sz="5400" b="1" dirty="0">
                <a:solidFill>
                  <a:schemeClr val="tx1"/>
                </a:solidFill>
              </a:rPr>
              <a:t>Автосервис</a:t>
            </a:r>
            <a:r>
              <a:rPr lang="en-US" sz="5400" b="1" dirty="0">
                <a:solidFill>
                  <a:schemeClr val="tx1"/>
                </a:solidFill>
              </a:rPr>
              <a:t>”</a:t>
            </a:r>
            <a:endParaRPr lang="ru-RU" sz="5400" b="1" dirty="0">
              <a:solidFill>
                <a:schemeClr val="tx1"/>
              </a:solidFill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695ED397-81F9-431F-F5CA-8CF37E1C95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05226" y="4858110"/>
            <a:ext cx="6181548" cy="999179"/>
          </a:xfr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pPr algn="l"/>
            <a:r>
              <a:rPr lang="ru-RU" sz="1400" b="1" dirty="0">
                <a:solidFill>
                  <a:schemeClr val="tx1"/>
                </a:solidFill>
              </a:rPr>
              <a:t>Выполнил</a:t>
            </a:r>
            <a:r>
              <a:rPr lang="en-US" sz="1400" b="1" dirty="0">
                <a:solidFill>
                  <a:schemeClr val="tx1"/>
                </a:solidFill>
              </a:rPr>
              <a:t>:</a:t>
            </a:r>
            <a:r>
              <a:rPr lang="ru-RU" sz="1400" b="1" dirty="0">
                <a:solidFill>
                  <a:schemeClr val="tx1"/>
                </a:solidFill>
              </a:rPr>
              <a:t> Серебренников З.С.</a:t>
            </a:r>
          </a:p>
          <a:p>
            <a:pPr algn="l"/>
            <a:r>
              <a:rPr lang="ru-RU" sz="1400" b="1" dirty="0">
                <a:solidFill>
                  <a:schemeClr val="tx1"/>
                </a:solidFill>
              </a:rPr>
              <a:t>Студент 2 курса очной формы обучения, группы ИСиП 24-9-2</a:t>
            </a:r>
          </a:p>
          <a:p>
            <a:pPr algn="l"/>
            <a:r>
              <a:rPr lang="ru-RU" sz="1400" b="1" dirty="0">
                <a:solidFill>
                  <a:schemeClr val="tx1"/>
                </a:solidFill>
              </a:rPr>
              <a:t>Проверила: Гончарова Т.В., должность: преподаватель проф. дисциплин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FAA570-0941-ED92-FD6B-1121AB664C7F}"/>
              </a:ext>
            </a:extLst>
          </p:cNvPr>
          <p:cNvSpPr txBox="1"/>
          <p:nvPr/>
        </p:nvSpPr>
        <p:spPr>
          <a:xfrm>
            <a:off x="532584" y="57751"/>
            <a:ext cx="11230791" cy="94296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chemeClr val="tx1"/>
                </a:solidFill>
                <a:latin typeface="+mj-lt"/>
                <a:ea typeface="ADLaM Display" panose="02010000000000000000" pitchFamily="2" charset="0"/>
                <a:cs typeface="ADLaM Display" panose="02010000000000000000" pitchFamily="2" charset="0"/>
              </a:rPr>
              <a:t>ГОСУДАРСТВЕННОЕ АВТОНОМНОЕ ПРОФЕССИОНАЛЬНОЕ ОБРАЗОВАТЕЛЬНОЕ УЧРЕЖДЕНИЕ  ТЮМЕНСКОЙ ОБЛАСТИ </a:t>
            </a:r>
            <a:r>
              <a:rPr lang="en-US" b="1" dirty="0">
                <a:solidFill>
                  <a:schemeClr val="tx1"/>
                </a:solidFill>
                <a:latin typeface="+mj-lt"/>
                <a:ea typeface="ADLaM Display" panose="02010000000000000000" pitchFamily="2" charset="0"/>
                <a:cs typeface="ADLaM Display" panose="02010000000000000000" pitchFamily="2" charset="0"/>
              </a:rPr>
              <a:t>“</a:t>
            </a:r>
            <a:r>
              <a:rPr lang="ru-RU" b="1" dirty="0">
                <a:solidFill>
                  <a:schemeClr val="tx1"/>
                </a:solidFill>
                <a:latin typeface="+mj-lt"/>
                <a:ea typeface="ADLaM Display" panose="02010000000000000000" pitchFamily="2" charset="0"/>
                <a:cs typeface="ADLaM Display" panose="02010000000000000000" pitchFamily="2" charset="0"/>
              </a:rPr>
              <a:t>ТЮМЕНСКИЙ ТЕХНИКУМ СТРОИТЕЛЬНОЙ ИНДУСТРИИ И ГОРОДСКОГО ХОЗЯЙСТВА</a:t>
            </a:r>
            <a:r>
              <a:rPr lang="en-US" b="1" dirty="0">
                <a:solidFill>
                  <a:schemeClr val="tx1"/>
                </a:solidFill>
                <a:latin typeface="+mj-lt"/>
                <a:ea typeface="ADLaM Display" panose="02010000000000000000" pitchFamily="2" charset="0"/>
                <a:cs typeface="ADLaM Display" panose="02010000000000000000" pitchFamily="2" charset="0"/>
              </a:rPr>
              <a:t>”</a:t>
            </a:r>
            <a:endParaRPr lang="ru-RU" b="1" dirty="0">
              <a:solidFill>
                <a:schemeClr val="tx1"/>
              </a:solidFill>
              <a:latin typeface="+mj-lt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80E438-F1AE-834B-E9D1-C83B5428E6D3}"/>
              </a:ext>
            </a:extLst>
          </p:cNvPr>
          <p:cNvSpPr txBox="1"/>
          <p:nvPr/>
        </p:nvSpPr>
        <p:spPr>
          <a:xfrm>
            <a:off x="5186440" y="6430917"/>
            <a:ext cx="1780616" cy="369332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ru-RU" b="1" dirty="0">
                <a:solidFill>
                  <a:schemeClr val="tx1"/>
                </a:solidFill>
              </a:rPr>
              <a:t>Г. Тюмень, 2026</a:t>
            </a:r>
          </a:p>
        </p:txBody>
      </p:sp>
    </p:spTree>
    <p:extLst>
      <p:ext uri="{BB962C8B-B14F-4D97-AF65-F5344CB8AC3E}">
        <p14:creationId xmlns:p14="http://schemas.microsoft.com/office/powerpoint/2010/main" val="4220889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4AFCC5-E725-EAF8-5A9A-3F3AF91353DF}"/>
              </a:ext>
            </a:extLst>
          </p:cNvPr>
          <p:cNvSpPr txBox="1"/>
          <p:nvPr/>
        </p:nvSpPr>
        <p:spPr>
          <a:xfrm>
            <a:off x="618566" y="385482"/>
            <a:ext cx="580909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5400" dirty="0"/>
              <a:t>Актуальность темы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9F7298-FE62-60C4-8B56-3C1B22938FF1}"/>
              </a:ext>
            </a:extLst>
          </p:cNvPr>
          <p:cNvSpPr txBox="1"/>
          <p:nvPr/>
        </p:nvSpPr>
        <p:spPr>
          <a:xfrm>
            <a:off x="546847" y="1640426"/>
            <a:ext cx="1030941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4400" b="0" i="0" dirty="0">
                <a:effectLst/>
                <a:latin typeface="system-ui"/>
              </a:rPr>
              <a:t>Стремительный рост автомобильного парка в РФ</a:t>
            </a:r>
          </a:p>
          <a:p>
            <a:pPr algn="l"/>
            <a:r>
              <a:rPr lang="ru-RU" sz="4400" b="0" i="0" dirty="0">
                <a:effectLst/>
                <a:latin typeface="system-ui"/>
              </a:rPr>
              <a:t>Высокая конкуренция на рынке автосервисных услуг</a:t>
            </a:r>
          </a:p>
          <a:p>
            <a:pPr algn="l"/>
            <a:r>
              <a:rPr lang="ru-RU" sz="4400" b="0" i="0" dirty="0">
                <a:effectLst/>
                <a:latin typeface="system-ui"/>
              </a:rPr>
              <a:t>Традиционные методы (бумажный документооборот, ручное планирование) </a:t>
            </a:r>
          </a:p>
        </p:txBody>
      </p:sp>
    </p:spTree>
    <p:extLst>
      <p:ext uri="{BB962C8B-B14F-4D97-AF65-F5344CB8AC3E}">
        <p14:creationId xmlns:p14="http://schemas.microsoft.com/office/powerpoint/2010/main" val="3038803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03F466-D91B-D133-298D-48EA37B832A6}"/>
              </a:ext>
            </a:extLst>
          </p:cNvPr>
          <p:cNvSpPr txBox="1"/>
          <p:nvPr/>
        </p:nvSpPr>
        <p:spPr>
          <a:xfrm>
            <a:off x="224118" y="107594"/>
            <a:ext cx="957430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i="0" dirty="0">
                <a:effectLst/>
                <a:latin typeface="system-ui"/>
              </a:rPr>
              <a:t>Цель:</a:t>
            </a:r>
            <a:r>
              <a:rPr lang="ru-RU" sz="3200" b="0" i="0" dirty="0">
                <a:effectLst/>
                <a:latin typeface="system-ui"/>
              </a:rPr>
              <a:t> Спроектировать информационную систему для автоматизации записи клиентов и управления заявками автосервиса</a:t>
            </a:r>
            <a:endParaRPr lang="ru-RU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8A3FCA-DE77-86F2-1E36-45882A863697}"/>
              </a:ext>
            </a:extLst>
          </p:cNvPr>
          <p:cNvSpPr txBox="1"/>
          <p:nvPr/>
        </p:nvSpPr>
        <p:spPr>
          <a:xfrm>
            <a:off x="224117" y="2211177"/>
            <a:ext cx="1091901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sz="3200" b="1" i="0" dirty="0">
                <a:effectLst/>
                <a:latin typeface="system-ui"/>
              </a:rPr>
              <a:t>Задачи:</a:t>
            </a:r>
            <a:endParaRPr lang="ru-RU" sz="3200" b="0" i="0" dirty="0">
              <a:effectLst/>
              <a:latin typeface="system-ui"/>
            </a:endParaRPr>
          </a:p>
          <a:p>
            <a:pPr algn="l">
              <a:buFont typeface="+mj-lt"/>
              <a:buAutoNum type="arabicPeriod"/>
            </a:pPr>
            <a:r>
              <a:rPr lang="ru-RU" sz="3200" b="0" i="0" dirty="0">
                <a:effectLst/>
                <a:latin typeface="system-ui"/>
              </a:rPr>
              <a:t>Проанализировать предметную область</a:t>
            </a:r>
          </a:p>
          <a:p>
            <a:pPr algn="l">
              <a:buFont typeface="+mj-lt"/>
              <a:buAutoNum type="arabicPeriod"/>
            </a:pPr>
            <a:r>
              <a:rPr lang="ru-RU" sz="3200" b="0" i="0" dirty="0">
                <a:effectLst/>
                <a:latin typeface="system-ui"/>
              </a:rPr>
              <a:t>Построить функциональные модели (IDEF0, DFD)</a:t>
            </a:r>
          </a:p>
          <a:p>
            <a:pPr algn="l">
              <a:buFont typeface="+mj-lt"/>
              <a:buAutoNum type="arabicPeriod"/>
            </a:pPr>
            <a:r>
              <a:rPr lang="ru-RU" sz="3200" dirty="0">
                <a:latin typeface="system-ui"/>
              </a:rPr>
              <a:t>Построить </a:t>
            </a:r>
            <a:r>
              <a:rPr lang="en-US" sz="3200" dirty="0">
                <a:latin typeface="system-ui"/>
              </a:rPr>
              <a:t>UML-</a:t>
            </a:r>
            <a:r>
              <a:rPr lang="ru-RU" sz="3200" dirty="0">
                <a:latin typeface="system-ui"/>
              </a:rPr>
              <a:t>Диаграммы</a:t>
            </a:r>
            <a:endParaRPr lang="ru-RU" sz="3200" b="0" i="0" dirty="0">
              <a:effectLst/>
              <a:latin typeface="system-ui"/>
            </a:endParaRPr>
          </a:p>
          <a:p>
            <a:pPr>
              <a:buFont typeface="+mj-lt"/>
              <a:buAutoNum type="arabicPeriod"/>
            </a:pPr>
            <a:r>
              <a:rPr lang="ru-RU" sz="3200" dirty="0">
                <a:latin typeface="system-ui"/>
              </a:rPr>
              <a:t>Спроектировать базу данных</a:t>
            </a:r>
            <a:endParaRPr lang="ru-RU" sz="3200" b="0" i="0" dirty="0">
              <a:effectLst/>
              <a:latin typeface="system-ui"/>
            </a:endParaRPr>
          </a:p>
          <a:p>
            <a:pPr algn="l">
              <a:buFont typeface="+mj-lt"/>
              <a:buAutoNum type="arabicPeriod"/>
            </a:pPr>
            <a:r>
              <a:rPr lang="ru-RU" sz="3200" b="0" i="0" dirty="0">
                <a:effectLst/>
                <a:latin typeface="system-ui"/>
              </a:rPr>
              <a:t>Создать эскизный проект </a:t>
            </a:r>
            <a:r>
              <a:rPr lang="ru-RU" sz="3200" b="0" i="0" dirty="0" err="1">
                <a:effectLst/>
                <a:latin typeface="system-ui"/>
              </a:rPr>
              <a:t>Telegram</a:t>
            </a:r>
            <a:r>
              <a:rPr lang="ru-RU" sz="3200" b="0" i="0" dirty="0">
                <a:effectLst/>
                <a:latin typeface="system-ui"/>
              </a:rPr>
              <a:t>-бота</a:t>
            </a:r>
          </a:p>
        </p:txBody>
      </p:sp>
    </p:spTree>
    <p:extLst>
      <p:ext uri="{BB962C8B-B14F-4D97-AF65-F5344CB8AC3E}">
        <p14:creationId xmlns:p14="http://schemas.microsoft.com/office/powerpoint/2010/main" val="1575277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71521A-6895-52B8-0DE2-41F92B1E5DD0}"/>
              </a:ext>
            </a:extLst>
          </p:cNvPr>
          <p:cNvSpPr txBox="1"/>
          <p:nvPr/>
        </p:nvSpPr>
        <p:spPr>
          <a:xfrm>
            <a:off x="430306" y="29494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sz="3600" b="1" i="0" dirty="0">
                <a:effectLst/>
                <a:latin typeface="system-ui"/>
              </a:rPr>
              <a:t>Анализ предметной области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A8CF17-E204-997E-DCD5-8F9F94E15630}"/>
              </a:ext>
            </a:extLst>
          </p:cNvPr>
          <p:cNvSpPr txBox="1"/>
          <p:nvPr/>
        </p:nvSpPr>
        <p:spPr>
          <a:xfrm>
            <a:off x="430306" y="1045767"/>
            <a:ext cx="1212924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sz="3200" b="1" i="0" dirty="0">
                <a:effectLst/>
                <a:latin typeface="system-ui"/>
              </a:rPr>
              <a:t>Ключевые сущности:</a:t>
            </a:r>
            <a:endParaRPr lang="ru-RU" sz="3200" b="0" i="0" dirty="0">
              <a:effectLst/>
              <a:latin typeface="system-ui"/>
            </a:endParaRPr>
          </a:p>
          <a:p>
            <a:pPr algn="l"/>
            <a:r>
              <a:rPr lang="ru-RU" sz="3200" b="0" i="0" dirty="0">
                <a:effectLst/>
                <a:latin typeface="system-ui"/>
              </a:rPr>
              <a:t>Клиенты </a:t>
            </a:r>
          </a:p>
          <a:p>
            <a:pPr algn="l"/>
            <a:r>
              <a:rPr lang="ru-RU" sz="3200" b="0" i="0" dirty="0">
                <a:effectLst/>
                <a:latin typeface="system-ui"/>
              </a:rPr>
              <a:t>Транспортные средства</a:t>
            </a:r>
          </a:p>
          <a:p>
            <a:pPr algn="l"/>
            <a:r>
              <a:rPr lang="ru-RU" sz="3200" b="0" i="0" dirty="0">
                <a:effectLst/>
                <a:latin typeface="system-ui"/>
              </a:rPr>
              <a:t>Заказы</a:t>
            </a:r>
          </a:p>
          <a:p>
            <a:pPr algn="l"/>
            <a:r>
              <a:rPr lang="ru-RU" sz="3200" b="0" i="0" dirty="0">
                <a:effectLst/>
                <a:latin typeface="system-ui"/>
              </a:rPr>
              <a:t>Персонал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8329E5-B357-D9D9-DE9C-8CB94B056722}"/>
              </a:ext>
            </a:extLst>
          </p:cNvPr>
          <p:cNvSpPr txBox="1"/>
          <p:nvPr/>
        </p:nvSpPr>
        <p:spPr>
          <a:xfrm>
            <a:off x="246530" y="3600312"/>
            <a:ext cx="680869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sz="3200" b="1" i="0" dirty="0">
                <a:effectLst/>
                <a:latin typeface="system-ui"/>
              </a:rPr>
              <a:t>Основные процессы:</a:t>
            </a:r>
            <a:endParaRPr lang="ru-RU" sz="3200" b="0" i="0" dirty="0">
              <a:effectLst/>
              <a:latin typeface="system-ui"/>
            </a:endParaRPr>
          </a:p>
          <a:p>
            <a:pPr algn="l">
              <a:buFont typeface="+mj-lt"/>
              <a:buAutoNum type="arabicPeriod"/>
            </a:pPr>
            <a:r>
              <a:rPr lang="ru-RU" sz="3200" b="0" i="0" dirty="0">
                <a:effectLst/>
                <a:latin typeface="system-ui"/>
              </a:rPr>
              <a:t>Приём заявок</a:t>
            </a:r>
          </a:p>
          <a:p>
            <a:pPr algn="l">
              <a:buFont typeface="+mj-lt"/>
              <a:buAutoNum type="arabicPeriod"/>
            </a:pPr>
            <a:r>
              <a:rPr lang="ru-RU" sz="3200" b="0" i="0" dirty="0">
                <a:effectLst/>
                <a:latin typeface="system-ui"/>
              </a:rPr>
              <a:t>Диагностика</a:t>
            </a:r>
          </a:p>
          <a:p>
            <a:pPr algn="l">
              <a:buFont typeface="+mj-lt"/>
              <a:buAutoNum type="arabicPeriod"/>
            </a:pPr>
            <a:r>
              <a:rPr lang="ru-RU" sz="3200" b="0" i="0" dirty="0">
                <a:effectLst/>
                <a:latin typeface="system-ui"/>
              </a:rPr>
              <a:t>Выполнение работ</a:t>
            </a:r>
          </a:p>
          <a:p>
            <a:pPr algn="l">
              <a:buFont typeface="+mj-lt"/>
              <a:buAutoNum type="arabicPeriod"/>
            </a:pPr>
            <a:r>
              <a:rPr lang="ru-RU" sz="3200" b="0" i="0" dirty="0">
                <a:effectLst/>
                <a:latin typeface="system-ui"/>
              </a:rPr>
              <a:t>Расчёт и выдача документов</a:t>
            </a:r>
          </a:p>
        </p:txBody>
      </p:sp>
    </p:spTree>
    <p:extLst>
      <p:ext uri="{BB962C8B-B14F-4D97-AF65-F5344CB8AC3E}">
        <p14:creationId xmlns:p14="http://schemas.microsoft.com/office/powerpoint/2010/main" val="3003050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C44A873-E176-4C9D-E6D3-B20417F0C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459" y="861484"/>
            <a:ext cx="8919882" cy="528585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EAB3BEC-2DB7-E2E0-55A8-A0AE5CA7BE90}"/>
              </a:ext>
            </a:extLst>
          </p:cNvPr>
          <p:cNvSpPr txBox="1"/>
          <p:nvPr/>
        </p:nvSpPr>
        <p:spPr>
          <a:xfrm>
            <a:off x="4296468" y="215153"/>
            <a:ext cx="35990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Диаграмма </a:t>
            </a:r>
            <a:r>
              <a:rPr lang="en-US" sz="3600" dirty="0"/>
              <a:t>IDEF0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330472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A4D4AEF-DA7C-2D4C-49BB-612DF940D8C3}"/>
              </a:ext>
            </a:extLst>
          </p:cNvPr>
          <p:cNvSpPr txBox="1"/>
          <p:nvPr/>
        </p:nvSpPr>
        <p:spPr>
          <a:xfrm>
            <a:off x="3947271" y="286871"/>
            <a:ext cx="42974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Декомпозиция </a:t>
            </a:r>
            <a:r>
              <a:rPr lang="en-US" sz="3600" dirty="0"/>
              <a:t>IDEF0</a:t>
            </a:r>
            <a:endParaRPr lang="ru-RU" sz="36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DF8B4C1-47B4-25AA-85FC-ADD9DC687A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6716" y="924450"/>
            <a:ext cx="7178567" cy="593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331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DF511D-68E8-77AE-1E53-8BCF2DDD01A7}"/>
              </a:ext>
            </a:extLst>
          </p:cNvPr>
          <p:cNvSpPr txBox="1"/>
          <p:nvPr/>
        </p:nvSpPr>
        <p:spPr>
          <a:xfrm>
            <a:off x="3164267" y="224118"/>
            <a:ext cx="58634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Диаграмма потоков данных </a:t>
            </a:r>
            <a:r>
              <a:rPr lang="en-US" sz="3200" dirty="0"/>
              <a:t>DFD</a:t>
            </a:r>
            <a:endParaRPr lang="ru-RU" sz="32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0E5B666-9776-D177-E41E-375C951FC0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5" y="1492007"/>
            <a:ext cx="11947639" cy="3954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520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3545C8-0B66-2804-BA10-4B26518AB681}"/>
              </a:ext>
            </a:extLst>
          </p:cNvPr>
          <p:cNvSpPr txBox="1"/>
          <p:nvPr/>
        </p:nvSpPr>
        <p:spPr>
          <a:xfrm>
            <a:off x="4093943" y="9761"/>
            <a:ext cx="40041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Декомпозиция </a:t>
            </a:r>
            <a:r>
              <a:rPr lang="en-US" sz="3600" dirty="0"/>
              <a:t>DFD</a:t>
            </a:r>
            <a:endParaRPr lang="ru-RU" sz="36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B5C6EEF-0337-A18B-85AD-6883BE585F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6547" y="551317"/>
            <a:ext cx="7498899" cy="6201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844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83EC64-3E9D-3D09-CBC2-AC29A3378E37}"/>
              </a:ext>
            </a:extLst>
          </p:cNvPr>
          <p:cNvSpPr txBox="1"/>
          <p:nvPr/>
        </p:nvSpPr>
        <p:spPr>
          <a:xfrm>
            <a:off x="2789549" y="143435"/>
            <a:ext cx="66129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Диаграмма вариантов </a:t>
            </a:r>
            <a:r>
              <a:rPr lang="ru-RU" sz="3200" dirty="0" err="1"/>
              <a:t>испоьзования</a:t>
            </a:r>
            <a:endParaRPr lang="ru-RU" sz="32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388ACF9-B7AF-CF9E-BE65-4A55F3A52C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033528"/>
            <a:ext cx="12192000" cy="5526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403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6A45B6-43AE-F70D-F74E-02B234DF56C7}"/>
              </a:ext>
            </a:extLst>
          </p:cNvPr>
          <p:cNvSpPr txBox="1"/>
          <p:nvPr/>
        </p:nvSpPr>
        <p:spPr>
          <a:xfrm>
            <a:off x="3268980" y="141366"/>
            <a:ext cx="5654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Диаграмма деятельности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5051DC3-646B-E6CD-704E-025518EB52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1876" y="726141"/>
            <a:ext cx="2528248" cy="6131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957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194451-F1C5-5664-0C1C-1193DAA8B997}"/>
              </a:ext>
            </a:extLst>
          </p:cNvPr>
          <p:cNvSpPr txBox="1"/>
          <p:nvPr/>
        </p:nvSpPr>
        <p:spPr>
          <a:xfrm>
            <a:off x="3167378" y="143435"/>
            <a:ext cx="58572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Диаграмма последовательности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B47089C-D4F3-A270-E4E6-1BBF6B9704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1378" y="633340"/>
            <a:ext cx="5409244" cy="6224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9118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963A97-D0A6-78C5-C986-854F63CDFD32}"/>
              </a:ext>
            </a:extLst>
          </p:cNvPr>
          <p:cNvSpPr txBox="1"/>
          <p:nvPr/>
        </p:nvSpPr>
        <p:spPr>
          <a:xfrm>
            <a:off x="4283933" y="161364"/>
            <a:ext cx="36241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Диаграмма классов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3E12DB7-A664-F616-7ECF-F6F97CF1BA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5466" y="681318"/>
            <a:ext cx="6561067" cy="6176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4152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634707-FAF6-D088-DA62-016B4D866713}"/>
              </a:ext>
            </a:extLst>
          </p:cNvPr>
          <p:cNvSpPr txBox="1"/>
          <p:nvPr/>
        </p:nvSpPr>
        <p:spPr>
          <a:xfrm>
            <a:off x="4751721" y="170330"/>
            <a:ext cx="26885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ER-</a:t>
            </a:r>
            <a:r>
              <a:rPr lang="ru-RU" sz="3200" dirty="0"/>
              <a:t>диаграмма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5A95152-5617-7CE9-FAC4-275C404E85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437" y="714223"/>
            <a:ext cx="10367125" cy="6143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2621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37FFF3-9227-3A0F-DF6D-225407CDB92C}"/>
              </a:ext>
            </a:extLst>
          </p:cNvPr>
          <p:cNvSpPr txBox="1"/>
          <p:nvPr/>
        </p:nvSpPr>
        <p:spPr>
          <a:xfrm>
            <a:off x="3435271" y="98611"/>
            <a:ext cx="53214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Диаграмма логического вида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FD4ED22-4E2C-B5E1-A855-551BB5FF49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8700" y="683386"/>
            <a:ext cx="7174600" cy="6129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4234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6AE5D9-B179-95D3-59E8-CF75F5C71D6A}"/>
              </a:ext>
            </a:extLst>
          </p:cNvPr>
          <p:cNvSpPr txBox="1"/>
          <p:nvPr/>
        </p:nvSpPr>
        <p:spPr>
          <a:xfrm>
            <a:off x="3394395" y="80683"/>
            <a:ext cx="54032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Диаграмма физического вида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87177BB-27CF-1D77-D8D2-58E6FD8479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8534" y="573286"/>
            <a:ext cx="6194932" cy="6284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8252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F22AAE-450D-79A3-2F0F-3B25CEAF2983}"/>
              </a:ext>
            </a:extLst>
          </p:cNvPr>
          <p:cNvSpPr txBox="1"/>
          <p:nvPr/>
        </p:nvSpPr>
        <p:spPr>
          <a:xfrm>
            <a:off x="3565403" y="233083"/>
            <a:ext cx="50611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Внешний вид </a:t>
            </a:r>
            <a:r>
              <a:rPr lang="en-US" sz="3200" dirty="0"/>
              <a:t>Telegram-</a:t>
            </a:r>
            <a:r>
              <a:rPr lang="ru-RU" sz="3200" dirty="0"/>
              <a:t>Бота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776542D-1CBC-6180-046A-D6E53015CE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85" y="817858"/>
            <a:ext cx="2795717" cy="6050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1313FC8-17DB-EA28-CD6A-FC64E1FDE03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8116" y="807574"/>
            <a:ext cx="2795767" cy="6050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363F31A-117C-CA5A-0766-5A001734EE5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6597" y="807574"/>
            <a:ext cx="2795341" cy="60504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518015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9FC6E09-F6DB-91B7-F422-9C7F0C8AECF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0518" y="786183"/>
            <a:ext cx="2805223" cy="60718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21A8DB5-A3AE-EB6E-BA41-14568205B94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0811" y="786184"/>
            <a:ext cx="2805720" cy="60718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682114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979F565-6E2D-F5AB-E0CB-EFE4A66F9A9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808" y="1061203"/>
            <a:ext cx="2678485" cy="57967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B681E4F-17AE-02B4-7929-8AA3509DE39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1650" y="1061203"/>
            <a:ext cx="2678485" cy="5797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5FE9F7B-713F-2B02-F2AF-8C7026F556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4492" y="2832853"/>
            <a:ext cx="5033328" cy="965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F4710D2-6F10-45FC-D6A1-38707CA803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4492" y="4676775"/>
            <a:ext cx="5033328" cy="8657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854484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785A81-565D-EE8B-C50B-D9BB356DF3F5}"/>
              </a:ext>
            </a:extLst>
          </p:cNvPr>
          <p:cNvSpPr txBox="1"/>
          <p:nvPr/>
        </p:nvSpPr>
        <p:spPr>
          <a:xfrm>
            <a:off x="323850" y="428625"/>
            <a:ext cx="23134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Заключение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80D8FC-A71D-B508-9E44-C32C56552BAD}"/>
              </a:ext>
            </a:extLst>
          </p:cNvPr>
          <p:cNvSpPr txBox="1"/>
          <p:nvPr/>
        </p:nvSpPr>
        <p:spPr>
          <a:xfrm>
            <a:off x="323850" y="1770787"/>
            <a:ext cx="947737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0" i="0" dirty="0">
                <a:effectLst/>
                <a:latin typeface="system-ui"/>
              </a:rPr>
              <a:t>Цель работы достигнута</a:t>
            </a:r>
          </a:p>
          <a:p>
            <a:endParaRPr lang="ru-RU" sz="3200" b="0" i="0" dirty="0">
              <a:effectLst/>
              <a:latin typeface="system-ui"/>
            </a:endParaRPr>
          </a:p>
          <a:p>
            <a:r>
              <a:rPr lang="ru-RU" sz="3200" b="0" i="0" dirty="0">
                <a:effectLst/>
                <a:latin typeface="system-ui"/>
              </a:rPr>
              <a:t>Спроектирована полноценная ИС «Автосервис»</a:t>
            </a:r>
          </a:p>
          <a:p>
            <a:endParaRPr lang="ru-RU" sz="3200" b="0" i="0" dirty="0">
              <a:effectLst/>
              <a:latin typeface="system-ui"/>
            </a:endParaRPr>
          </a:p>
          <a:p>
            <a:r>
              <a:rPr lang="ru-RU" sz="3200" b="0" i="0" dirty="0">
                <a:effectLst/>
                <a:latin typeface="system-ui"/>
              </a:rPr>
              <a:t>Разработаны все необходимые модели и диаграммы</a:t>
            </a:r>
          </a:p>
          <a:p>
            <a:endParaRPr lang="ru-RU" sz="3200" b="0" i="0" dirty="0">
              <a:effectLst/>
              <a:latin typeface="system-ui"/>
            </a:endParaRPr>
          </a:p>
          <a:p>
            <a:r>
              <a:rPr lang="ru-RU" sz="3200" b="0" i="0" dirty="0">
                <a:effectLst/>
                <a:latin typeface="system-ui"/>
              </a:rPr>
              <a:t>Система готова к программной реализации</a:t>
            </a:r>
          </a:p>
        </p:txBody>
      </p:sp>
    </p:spTree>
    <p:extLst>
      <p:ext uri="{BB962C8B-B14F-4D97-AF65-F5344CB8AC3E}">
        <p14:creationId xmlns:p14="http://schemas.microsoft.com/office/powerpoint/2010/main" val="6349759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79D23E-319B-544C-0511-499FEB3BCC89}"/>
              </a:ext>
            </a:extLst>
          </p:cNvPr>
          <p:cNvSpPr txBox="1"/>
          <p:nvPr/>
        </p:nvSpPr>
        <p:spPr>
          <a:xfrm>
            <a:off x="1392449" y="2921168"/>
            <a:ext cx="832125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000" dirty="0"/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9550793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39</TotalTime>
  <Words>198</Words>
  <Application>Microsoft Office PowerPoint</Application>
  <PresentationFormat>Широкоэкранный</PresentationFormat>
  <Paragraphs>49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4" baseType="lpstr">
      <vt:lpstr>Century Gothic</vt:lpstr>
      <vt:lpstr>system-ui</vt:lpstr>
      <vt:lpstr>Wingdings 3</vt:lpstr>
      <vt:lpstr>Ион</vt:lpstr>
      <vt:lpstr>Курсовой проект на тему: Проектирование ИС “Автосервис”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Захар Серебренников</dc:creator>
  <cp:lastModifiedBy>Захар Серебренников</cp:lastModifiedBy>
  <cp:revision>3</cp:revision>
  <dcterms:created xsi:type="dcterms:W3CDTF">2026-05-11T17:05:22Z</dcterms:created>
  <dcterms:modified xsi:type="dcterms:W3CDTF">2026-05-11T17:48:54Z</dcterms:modified>
</cp:coreProperties>
</file>